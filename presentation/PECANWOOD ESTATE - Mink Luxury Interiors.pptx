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7D22-B458-46CC-89AF-EABD2A344BD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5C1B-F1BE-4E64-91F0-617A8809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53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7D22-B458-46CC-89AF-EABD2A344BD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5C1B-F1BE-4E64-91F0-617A8809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463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7D22-B458-46CC-89AF-EABD2A344BD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5C1B-F1BE-4E64-91F0-617A8809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189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7D22-B458-46CC-89AF-EABD2A344BD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5C1B-F1BE-4E64-91F0-617A8809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174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7D22-B458-46CC-89AF-EABD2A344BD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5C1B-F1BE-4E64-91F0-617A8809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587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7D22-B458-46CC-89AF-EABD2A344BD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5C1B-F1BE-4E64-91F0-617A8809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492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7D22-B458-46CC-89AF-EABD2A344BD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5C1B-F1BE-4E64-91F0-617A8809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962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7D22-B458-46CC-89AF-EABD2A344BD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5C1B-F1BE-4E64-91F0-617A8809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525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7D22-B458-46CC-89AF-EABD2A344BD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5C1B-F1BE-4E64-91F0-617A8809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781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7D22-B458-46CC-89AF-EABD2A344BD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5C1B-F1BE-4E64-91F0-617A8809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98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7D22-B458-46CC-89AF-EABD2A344BD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5C1B-F1BE-4E64-91F0-617A8809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91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87D22-B458-46CC-89AF-EABD2A344BD9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E5C1B-F1BE-4E64-91F0-617A8809D6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805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jpg"/><Relationship Id="rId5" Type="http://schemas.openxmlformats.org/officeDocument/2006/relationships/image" Target="../media/image36.png"/><Relationship Id="rId4" Type="http://schemas.openxmlformats.org/officeDocument/2006/relationships/image" Target="../media/image3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g"/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.png"/><Relationship Id="rId4" Type="http://schemas.openxmlformats.org/officeDocument/2006/relationships/image" Target="../media/image75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jp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jpg"/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3.jpg"/><Relationship Id="rId4" Type="http://schemas.openxmlformats.org/officeDocument/2006/relationships/image" Target="../media/image92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500" y="1841501"/>
            <a:ext cx="3175000" cy="141912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48000" y="3708400"/>
            <a:ext cx="6096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smtClean="0">
                <a:solidFill>
                  <a:srgbClr val="6E6860"/>
                </a:solidFill>
                <a:latin typeface="Calibri Light" panose="020F0302020204030204" pitchFamily="34" charset="0"/>
              </a:rPr>
              <a:t>INTERIOR ARCHITECTURE &amp; BESPOKE FURNISHING PROPOSAL</a:t>
            </a:r>
            <a:endParaRPr lang="en-US" sz="9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48000" y="4013200"/>
            <a:ext cx="6096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800" smtClean="0">
                <a:solidFill>
                  <a:srgbClr val="181715"/>
                </a:solidFill>
                <a:latin typeface="Georgia" panose="02040502050405020303" pitchFamily="18" charset="0"/>
              </a:rPr>
              <a:t>PECANWOOD ESTATE</a:t>
            </a:r>
            <a:endParaRPr lang="en-US" sz="28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0" y="4673600"/>
            <a:ext cx="609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00" i="1" smtClean="0">
                <a:solidFill>
                  <a:srgbClr val="6E6860"/>
                </a:solidFill>
                <a:latin typeface="Calibri Light" panose="020F0302020204030204" pitchFamily="34" charset="0"/>
              </a:rPr>
              <a:t>WHERE LUXURY BEGINS AND NEVER ENDS....</a:t>
            </a:r>
            <a:endParaRPr lang="en-US" sz="1000" i="1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100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02 / FOUNDATION &amp; TONE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COLOUR PALETTE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TIMELESS | SOPHISTICATED | ORGANIC TEXTURES &amp; METALLIC ACCENTS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3556000" cy="5435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" y="1260701"/>
            <a:ext cx="3403600" cy="45905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1955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PRIMARY MATERIALITY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38400" y="6096000"/>
            <a:ext cx="19558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Basil Green, Travertine &amp; Brass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73600" y="1041400"/>
            <a:ext cx="3810000" cy="261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950" y="1219200"/>
            <a:ext cx="2781300" cy="1854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00600" y="3276600"/>
            <a:ext cx="2095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SIGNATURE COLOUR STORY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61100" y="3276600"/>
            <a:ext cx="20955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Champagne, Basil, Black, Gold, Ivory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73600" y="3810000"/>
            <a:ext cx="3810000" cy="26670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500" y="3886200"/>
            <a:ext cx="2108200" cy="2108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00600" y="6096000"/>
            <a:ext cx="2095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COMPLEMENTARY FINISHES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61100" y="6096000"/>
            <a:ext cx="20955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Calacatta Veining &amp; Walnut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636000" y="1041400"/>
            <a:ext cx="3149600" cy="5435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2200" y="1647748"/>
            <a:ext cx="2997200" cy="38165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63000" y="6096000"/>
            <a:ext cx="173228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WARMTH &amp; CONTRAST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926320" y="6096000"/>
            <a:ext cx="173228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Cognac &amp; Terracotta Undertones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303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03 / ARRIVAL EXPERIENCE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ENTRANCE WALL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SCULPTURAL BRUSHED BRONZE CONSOLE TABLE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108204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090" y="1219200"/>
            <a:ext cx="3114620" cy="467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595122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SCULPTURAL RIBBON CONSOLE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07380" y="6096000"/>
            <a:ext cx="595122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Continuous Brushed Bronze Silhouette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717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04 / ARRIVAL EXPERIENCE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ENTRANCE WALL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ABSTRACT ART WORK | 1.5M X 1M | ABOVE CONSOLE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5588000" cy="5435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" y="2007975"/>
            <a:ext cx="5435600" cy="30960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3073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ABSTRACT ART WORK (1.5M X 1M)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52800" y="6096000"/>
            <a:ext cx="30734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Positioned Above Console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05600" y="1041400"/>
            <a:ext cx="5080000" cy="2641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1465" y="1117600"/>
            <a:ext cx="2828271" cy="2082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32600" y="3302000"/>
            <a:ext cx="2794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SCULPTED DIPTYCH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64600" y="3302000"/>
            <a:ext cx="279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Ivory &amp; Charcoal Relief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705600" y="3835400"/>
            <a:ext cx="5080000" cy="2641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084" y="3911600"/>
            <a:ext cx="1919031" cy="2082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32600" y="6096000"/>
            <a:ext cx="2794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ABOVE CONSOLE ELEVATION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64600" y="6096000"/>
            <a:ext cx="279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Scale Reference Above Console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031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05 / SPATIAL ATMOSPHERE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INSPO IMAGE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ARCHITECTURAL INSPIRATION &amp; TEXTURAL DIRECTION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108204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960" y="1219200"/>
            <a:ext cx="3738880" cy="467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595122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INSPO IMAGE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07380" y="6096000"/>
            <a:ext cx="595122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Open-Plan Luxury Living &amp; Layered Neutrals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63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06 / SPATIAL PLANNING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PROPOSED LAYOUT ENTRANCE LOUNGE AND TV LOUNGE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ENTRANCE LOUNGE | TV LOUNGE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108204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9744" y="1219200"/>
            <a:ext cx="3131312" cy="467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595122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PROPOSED FURNITURE LAYOUT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07380" y="6096000"/>
            <a:ext cx="595122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Entrance Lounge &amp; TV Lounge Zoning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255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07 / ENTRANCE LOUNGE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ENTRANCE LOUNGE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ILLUMINATED WALNUT DISPLAY &amp; WINE CABINETRY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108204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5960" y="1219200"/>
            <a:ext cx="3738880" cy="467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595122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BESPOKE DISPLAY &amp; WINE CABINETRY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07380" y="6096000"/>
            <a:ext cx="595122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Warm LED Backlighting, Fluted Glass &amp; Walnut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112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08 / ENTRANCE LOUNGE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ENTRANCE LOUNGE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PRIMARY UPHOLSTERED LOUNGE SEATING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108204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450" y="1219200"/>
            <a:ext cx="4153899" cy="467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595122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ENTRANCE LOUNGE SOFA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07380" y="6096000"/>
            <a:ext cx="595122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Tailored Multi-Tone Boucle Weave with Cognac &amp; Ivory Cushions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474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09 / ENTRANCE LOUNGE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ENTRANCE LOUNGE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CURVED SWIVEL OCCASIONAL SEATING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108204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3098" y="1219200"/>
            <a:ext cx="6224604" cy="467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595122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2X SCULPTURAL OCCASIONAL CHAIRS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07380" y="6096000"/>
            <a:ext cx="595122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Two-Tone Boucle Base &amp; Contoured Backrest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46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10 / ENTRANCE LOUNGE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ENTRANCE LOUNGE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TOP 2 TIERS BRONZE GLASS | PEDESTAL SIDE TABLE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60960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922394"/>
            <a:ext cx="5740400" cy="3267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3352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TIERED ROUND COFFEE TABLE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81400" y="6096000"/>
            <a:ext cx="33528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Top 2 Tiers Bronze Glass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13600" y="1041400"/>
            <a:ext cx="45720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861" y="1219200"/>
            <a:ext cx="2739478" cy="4673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40600" y="6096000"/>
            <a:ext cx="2514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PEDESTAL SIDE TABLE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0" y="6096000"/>
            <a:ext cx="251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Amber Blown Glass Base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979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11 / ENTRANCE LOUNGE PALETTE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COLOUR AND FABRIC PALETTE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ENTRANCE LOUNGE | BESPOKE SWATCH SELECTION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66800"/>
            <a:ext cx="10820400" cy="5384800"/>
          </a:xfrm>
          <a:prstGeom prst="rect">
            <a:avLst/>
          </a:prstGeom>
          <a:solidFill>
            <a:srgbClr val="FAF8F5"/>
          </a:solidFill>
          <a:ln w="12700">
            <a:solidFill>
              <a:srgbClr val="B6986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76500"/>
            <a:ext cx="558800" cy="425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35200" y="3149600"/>
            <a:ext cx="8280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ENTRANCE LOUNGE</a:t>
            </a:r>
            <a:endParaRPr lang="en-US" sz="9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35200" y="3454400"/>
            <a:ext cx="8280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smtClean="0">
                <a:solidFill>
                  <a:srgbClr val="181715"/>
                </a:solidFill>
                <a:latin typeface="Georgia" panose="02040502050405020303" pitchFamily="18" charset="0"/>
              </a:rPr>
              <a:t>COLOUR AND FABRIC PALETTE</a:t>
            </a:r>
            <a:endParaRPr lang="en-US" sz="20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97200" y="3987800"/>
            <a:ext cx="6756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smtClean="0">
                <a:solidFill>
                  <a:srgbClr val="6E6860"/>
                </a:solidFill>
                <a:latin typeface="Calibri Light" panose="020F0302020204030204" pitchFamily="34" charset="0"/>
              </a:rPr>
              <a:t>Reserved placeholder slide for Entrance Lounge fabric, leather, and finish swatches.</a:t>
            </a:r>
            <a:endParaRPr lang="en-US" sz="10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543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12 / ENTRANCE LOUNGE PALETTE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COLOUR AND FABRIC PALETTE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ENTRANCE LOUNGE | BESPOKE SWATCH SELECTION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66800"/>
            <a:ext cx="10820400" cy="5384800"/>
          </a:xfrm>
          <a:prstGeom prst="rect">
            <a:avLst/>
          </a:prstGeom>
          <a:solidFill>
            <a:srgbClr val="FAF8F5"/>
          </a:solidFill>
          <a:ln w="12700">
            <a:solidFill>
              <a:srgbClr val="B6986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76500"/>
            <a:ext cx="558800" cy="425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35200" y="3149600"/>
            <a:ext cx="8280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ENTRANCE LOUNGE</a:t>
            </a:r>
            <a:endParaRPr lang="en-US" sz="9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35200" y="3454400"/>
            <a:ext cx="8280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smtClean="0">
                <a:solidFill>
                  <a:srgbClr val="181715"/>
                </a:solidFill>
                <a:latin typeface="Georgia" panose="02040502050405020303" pitchFamily="18" charset="0"/>
              </a:rPr>
              <a:t>COLOUR AND FABRIC PALETTE</a:t>
            </a:r>
            <a:endParaRPr lang="en-US" sz="20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97200" y="3987800"/>
            <a:ext cx="6756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smtClean="0">
                <a:solidFill>
                  <a:srgbClr val="6E6860"/>
                </a:solidFill>
                <a:latin typeface="Calibri Light" panose="020F0302020204030204" pitchFamily="34" charset="0"/>
              </a:rPr>
              <a:t>Reserved placeholder slide for Entrance Lounge fabric, leather, and finish swatches.</a:t>
            </a:r>
            <a:endParaRPr lang="en-US" sz="10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157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13 / ENTRANCE LOUNGE PALETTE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COLOUR AND FABRIC PALETTE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ENTRANCE LOUNGE | BESPOKE SWATCH SELECTION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66800"/>
            <a:ext cx="10820400" cy="5384800"/>
          </a:xfrm>
          <a:prstGeom prst="rect">
            <a:avLst/>
          </a:prstGeom>
          <a:solidFill>
            <a:srgbClr val="FAF8F5"/>
          </a:solidFill>
          <a:ln w="12700">
            <a:solidFill>
              <a:srgbClr val="B6986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76500"/>
            <a:ext cx="558800" cy="425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35200" y="3149600"/>
            <a:ext cx="8280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ENTRANCE LOUNGE</a:t>
            </a:r>
            <a:endParaRPr lang="en-US" sz="9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35200" y="3454400"/>
            <a:ext cx="8280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smtClean="0">
                <a:solidFill>
                  <a:srgbClr val="181715"/>
                </a:solidFill>
                <a:latin typeface="Georgia" panose="02040502050405020303" pitchFamily="18" charset="0"/>
              </a:rPr>
              <a:t>COLOUR AND FABRIC PALETTE</a:t>
            </a:r>
            <a:endParaRPr lang="en-US" sz="20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97200" y="3987800"/>
            <a:ext cx="6756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smtClean="0">
                <a:solidFill>
                  <a:srgbClr val="6E6860"/>
                </a:solidFill>
                <a:latin typeface="Calibri Light" panose="020F0302020204030204" pitchFamily="34" charset="0"/>
              </a:rPr>
              <a:t>Reserved placeholder slide for Entrance Lounge fabric, leather, and finish swatches.</a:t>
            </a:r>
            <a:endParaRPr lang="en-US" sz="10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786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14 / KITCHEN DINING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KITCHEN DINING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DINING TABLE 8 SEATER | STONE MAX 1.6M, SURROUNDED BY WOODEN INLAY TO CREATE LARGER TOP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108204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080" y="1219200"/>
            <a:ext cx="9576640" cy="467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595122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DINING TABLE 8 SEATER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07380" y="6096000"/>
            <a:ext cx="595122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Stone Max 1.6m, Surrounded by Wooden Inlay to Create Larger Top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348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15 / KITCHEN DINING PALETTE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COLOUR AND FABRIC PALETTE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TABLE LEGS MUST BE STEEL POWDER COATED IN MATTE GREY OR STEEL | COMPLEMENTING BICS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2590800" cy="5435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" y="1727200"/>
            <a:ext cx="24384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142494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CENTRE STONE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04060" y="6096000"/>
            <a:ext cx="142494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White Veined Stone (Max 1.6m)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708400" y="1041400"/>
            <a:ext cx="2590800" cy="5435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600" y="2336800"/>
            <a:ext cx="2438400" cy="2438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35400" y="6096000"/>
            <a:ext cx="142494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PEBBLE TIMBER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47260" y="6096000"/>
            <a:ext cx="142494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Surrounding Wooden Inlay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51600" y="1041400"/>
            <a:ext cx="2590800" cy="5435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800" y="2240257"/>
            <a:ext cx="2438400" cy="263148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78600" y="6096000"/>
            <a:ext cx="142494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MATTE GREY / STEEL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90460" y="6096000"/>
            <a:ext cx="142494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Powder Coated Table Legs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194800" y="1041400"/>
            <a:ext cx="2590800" cy="5435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00" y="2369226"/>
            <a:ext cx="2438400" cy="237354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321800" y="6096000"/>
            <a:ext cx="142494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ARCH STONE TILE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233660" y="6096000"/>
            <a:ext cx="142494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Honed Marble Detail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101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16 / KITCHEN DINING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KITCHEN DINING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8X TWO-TONE UPHOLSTERED DINING CHAIRS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53340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219200"/>
            <a:ext cx="4673600" cy="467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29337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DINING CHAIR (FRONT PROFILE)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8500" y="6096000"/>
            <a:ext cx="29337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Ivory Seat &amp; Contrast Cognac Wing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51600" y="1041400"/>
            <a:ext cx="5334000" cy="5435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581" y="1117600"/>
            <a:ext cx="3250039" cy="4876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8600" y="6096000"/>
            <a:ext cx="29337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DINING CHAIRS (REAR &amp; SIDE PROFILE)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24900" y="6096000"/>
            <a:ext cx="29337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Rich Cognac Suede Outer Wrap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41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17 / KITCHEN DINING PALETTE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COLOUR AND FABRIC PALETTE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FABRIC FOR DINING CHAIRS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5334000" cy="5435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800" y="1117600"/>
            <a:ext cx="4876800" cy="4876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29337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INNER SEAT FABRIC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8500" y="6096000"/>
            <a:ext cx="29337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Tactile Oatmeal Boucle Weave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51600" y="1041400"/>
            <a:ext cx="5334000" cy="5435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639" y="1117600"/>
            <a:ext cx="4871923" cy="4876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8600" y="6096000"/>
            <a:ext cx="29337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OUTER WRAP FABRIC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24900" y="6096000"/>
            <a:ext cx="29337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Warm Cognac / Camel Suede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792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18 / KITCHEN DINING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KITCHEN DINING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ROUND RUG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108204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5363" y="1219200"/>
            <a:ext cx="3140075" cy="467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595122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ROUND RUG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07380" y="6096000"/>
            <a:ext cx="595122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Sculpted Champagne Gold &amp; Silver-Grey Geometric Pile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399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19 / KITCHEN DINING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KITCHEN DINING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COUNTER BAR STOOLS &amp; FEATURE UPHOLSTERY SWATCH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6096000" cy="5435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00" y="1117600"/>
            <a:ext cx="4876800" cy="4876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3352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COUNTER BAR STOOLS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81400" y="6096000"/>
            <a:ext cx="33528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4x Tan Upholstered Drum Bar Stools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13600" y="1041400"/>
            <a:ext cx="4572000" cy="5435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9800" y="1346200"/>
            <a:ext cx="4419600" cy="441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40600" y="6096000"/>
            <a:ext cx="2514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FEATURE TEXTILE SWATCH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0" y="6096000"/>
            <a:ext cx="251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Woven Houndstooth Accent Fabric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154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20 / SPATIAL PLANNING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PROPOSED ENTRANCE LOUNGE AND TV LOUNGE LAYOUT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ARCHITECTURAL FLOOR PLAN REFERENCE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108204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9744" y="1219200"/>
            <a:ext cx="3131312" cy="467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595122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PROPOSED LAYOUT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07380" y="6096000"/>
            <a:ext cx="595122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Entrance Lounge &amp; TV Lounge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6184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21 / TV LOUNGE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TV LOUNGE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LOW PLASMA STAND | STUCCO WALL BEHIND | STUCCO COLOUR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6096000" cy="5435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800" y="1117600"/>
            <a:ext cx="4876800" cy="4876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3352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LOW PLASMA STAND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81400" y="6096000"/>
            <a:ext cx="33528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Stucco Wall Behind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13600" y="1041400"/>
            <a:ext cx="4572000" cy="5435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261" y="1117600"/>
            <a:ext cx="3636678" cy="4876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40600" y="6096000"/>
            <a:ext cx="2514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STUCCO COLOUR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0" y="6096000"/>
            <a:ext cx="251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Warm Dove-Grey Textured Wall Finish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902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22 / TV LOUNGE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TV LOUNGE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PRIMARY TV LOUNGE SEATING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108204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450" y="1219200"/>
            <a:ext cx="4153899" cy="467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595122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TV LOUNGE SOFA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07380" y="6096000"/>
            <a:ext cx="595122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Deep Textured Multi-Tone Weave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80936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23 / TV LOUNGE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TV LOUNGE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BRONZE GLASS AND UPHOLSTERED SIDES NESTED COFFEE TABLE 80CM AND 50CM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63500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945170"/>
            <a:ext cx="5994400" cy="32216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34925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NESTED COFFEE TABLE (80CM &amp; 50CM)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95700" y="6096000"/>
            <a:ext cx="34925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Bronze Glass &amp; Upholstered Sides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67600" y="1041400"/>
            <a:ext cx="43180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5400" y="1574800"/>
            <a:ext cx="3962400" cy="396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94600" y="6096000"/>
            <a:ext cx="23749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LEATHER OTTOMAN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83700" y="6096000"/>
            <a:ext cx="23749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Piped Saddle Tan Leather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212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24 / TV LOUNGE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TV LOUNGE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SCULPTURAL TWO-TONE BOUCLE &amp; LEATHER OCCASIONAL CHAIRS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53340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308" y="1219200"/>
            <a:ext cx="4665785" cy="467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29337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OCCASIONAL CHAIR (FRONT VIEW)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8500" y="6096000"/>
            <a:ext cx="29337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Cream Boucle &amp; Leather Trim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51600" y="1041400"/>
            <a:ext cx="53340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1219200"/>
            <a:ext cx="4673600" cy="4673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8600" y="6096000"/>
            <a:ext cx="29337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OCCASIONAL CHAIR (BACK VIEW)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24900" y="6096000"/>
            <a:ext cx="29337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Contoured Taupe Saddle Leather Wrap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2145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25 / TV LOUNGE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TV LOUNGE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ACCENT PEDESTAL SIDE TABLE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108204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123" y="1219200"/>
            <a:ext cx="2550554" cy="467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595122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PEDESTAL SIDE TABLE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07380" y="6096000"/>
            <a:ext cx="595122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Olive Blown Glass Base &amp; Smoked Top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0258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a-DK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26 / TV LOUNGE PALETTE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COLOUR AND FABRIC PALETTE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TV LOUNGE | BESPOKE SWATCH SELECTION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66800"/>
            <a:ext cx="10820400" cy="5384800"/>
          </a:xfrm>
          <a:prstGeom prst="rect">
            <a:avLst/>
          </a:prstGeom>
          <a:solidFill>
            <a:srgbClr val="FAF8F5"/>
          </a:solidFill>
          <a:ln w="12700">
            <a:solidFill>
              <a:srgbClr val="B6986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76500"/>
            <a:ext cx="558800" cy="425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35200" y="3149600"/>
            <a:ext cx="8280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TV LOUNGE</a:t>
            </a:r>
            <a:endParaRPr lang="en-US" sz="9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35200" y="3454400"/>
            <a:ext cx="8280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smtClean="0">
                <a:solidFill>
                  <a:srgbClr val="181715"/>
                </a:solidFill>
                <a:latin typeface="Georgia" panose="02040502050405020303" pitchFamily="18" charset="0"/>
              </a:rPr>
              <a:t>COLOUR AND FABRIC PALETTE</a:t>
            </a:r>
            <a:endParaRPr lang="en-US" sz="20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97200" y="3987800"/>
            <a:ext cx="6756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smtClean="0">
                <a:solidFill>
                  <a:srgbClr val="6E6860"/>
                </a:solidFill>
                <a:latin typeface="Calibri Light" panose="020F0302020204030204" pitchFamily="34" charset="0"/>
              </a:rPr>
              <a:t>Reserved placeholder slide for TV Lounge fabric, carpet, and finish swatches.</a:t>
            </a:r>
            <a:endParaRPr lang="en-US" sz="10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226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a-DK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27 / TV LOUNGE PALETTE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COLOUR AND FABRIC PALETTE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TV LOUNGE | BESPOKE SWATCH SELECTION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66800"/>
            <a:ext cx="10820400" cy="5384800"/>
          </a:xfrm>
          <a:prstGeom prst="rect">
            <a:avLst/>
          </a:prstGeom>
          <a:solidFill>
            <a:srgbClr val="FAF8F5"/>
          </a:solidFill>
          <a:ln w="12700">
            <a:solidFill>
              <a:srgbClr val="B6986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76500"/>
            <a:ext cx="558800" cy="425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35200" y="3149600"/>
            <a:ext cx="8280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TV LOUNGE</a:t>
            </a:r>
            <a:endParaRPr lang="en-US" sz="9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35200" y="3454400"/>
            <a:ext cx="8280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smtClean="0">
                <a:solidFill>
                  <a:srgbClr val="181715"/>
                </a:solidFill>
                <a:latin typeface="Georgia" panose="02040502050405020303" pitchFamily="18" charset="0"/>
              </a:rPr>
              <a:t>COLOUR AND FABRIC PALETTE</a:t>
            </a:r>
            <a:endParaRPr lang="en-US" sz="20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97200" y="3987800"/>
            <a:ext cx="6756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smtClean="0">
                <a:solidFill>
                  <a:srgbClr val="6E6860"/>
                </a:solidFill>
                <a:latin typeface="Calibri Light" panose="020F0302020204030204" pitchFamily="34" charset="0"/>
              </a:rPr>
              <a:t>Reserved placeholder slide for TV Lounge fabric, carpet, and finish swatches.</a:t>
            </a:r>
            <a:endParaRPr lang="en-US" sz="10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4446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da-DK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28 / TV LOUNGE PALETTE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COLOUR AND FABRIC PALETTE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TV LOUNGE | BESPOKE SWATCH SELECTION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66800"/>
            <a:ext cx="10820400" cy="5384800"/>
          </a:xfrm>
          <a:prstGeom prst="rect">
            <a:avLst/>
          </a:prstGeom>
          <a:solidFill>
            <a:srgbClr val="FAF8F5"/>
          </a:solidFill>
          <a:ln w="12700">
            <a:solidFill>
              <a:srgbClr val="B6986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76500"/>
            <a:ext cx="558800" cy="425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35200" y="3149600"/>
            <a:ext cx="8280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TV LOUNGE</a:t>
            </a:r>
            <a:endParaRPr lang="en-US" sz="9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35200" y="3454400"/>
            <a:ext cx="8280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smtClean="0">
                <a:solidFill>
                  <a:srgbClr val="181715"/>
                </a:solidFill>
                <a:latin typeface="Georgia" panose="02040502050405020303" pitchFamily="18" charset="0"/>
              </a:rPr>
              <a:t>COLOUR AND FABRIC PALETTE</a:t>
            </a:r>
            <a:endParaRPr lang="en-US" sz="20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97200" y="3987800"/>
            <a:ext cx="6756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smtClean="0">
                <a:solidFill>
                  <a:srgbClr val="6E6860"/>
                </a:solidFill>
                <a:latin typeface="Calibri Light" panose="020F0302020204030204" pitchFamily="34" charset="0"/>
              </a:rPr>
              <a:t>Reserved placeholder slide for TV Lounge fabric, carpet, and finish swatches.</a:t>
            </a:r>
            <a:endParaRPr lang="en-US" sz="10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0909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29 / MASTER SUITE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MASTER BEDROOM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SOFT LUXURY CARPET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60960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5333" y="1219200"/>
            <a:ext cx="3115733" cy="467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3352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MASTER BEDROOM SUITE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81400" y="6096000"/>
            <a:ext cx="33528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Tailored Upholstered Bed &amp; Twin Ottomans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13600" y="1041400"/>
            <a:ext cx="4572000" cy="5435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587" y="1117600"/>
            <a:ext cx="3874026" cy="4876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40600" y="6096000"/>
            <a:ext cx="2514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SOFT LUXURY CARPET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0" y="6096000"/>
            <a:ext cx="251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High-Pile Carved Organic Texture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9844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30 / MASTER SUITE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MASTER BEDROOM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EXTENDED HEADBOARD &amp; CUSTOM FOOT-OF-BED POUFS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108204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7846" y="1219200"/>
            <a:ext cx="5975109" cy="467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595122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MASTER BEDROOM ELEVATION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07380" y="6096000"/>
            <a:ext cx="595122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Extended Split-Cushion Headboard &amp; Twin Poufs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147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31 / MASTER SUITE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MASTER BEDROOM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2X NIGHT STANDS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5334000" cy="5435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800" y="1117600"/>
            <a:ext cx="4876800" cy="4876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29337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NIGHT STAND I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8500" y="6096000"/>
            <a:ext cx="29337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Curved Taupe Lacquer &amp; Walnut Inlay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51600" y="1041400"/>
            <a:ext cx="5334000" cy="5435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2178" y="1117600"/>
            <a:ext cx="4392843" cy="4876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8600" y="6096000"/>
            <a:ext cx="29337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NIGHT STAND II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24900" y="6096000"/>
            <a:ext cx="29337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fr-FR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Curved Taupe Lacquer &amp; Walnut Inlay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11232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32 / MASTER SUITE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MASTER BEDROOM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WALLPAPER | PENDANT LIGHTING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5588000" cy="5435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089" y="1117600"/>
            <a:ext cx="4884223" cy="4876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3073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WALLPAPER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52800" y="6096000"/>
            <a:ext cx="30734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Charcoal Organic Woodgrain Textured Wallpaper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05600" y="1041400"/>
            <a:ext cx="2463800" cy="5435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2400300"/>
            <a:ext cx="2311400" cy="2311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32600" y="6096000"/>
            <a:ext cx="135509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PENDANT LIGHTING I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87310" y="6096000"/>
            <a:ext cx="135509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Smoked Glass Cluster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321800" y="1041400"/>
            <a:ext cx="24638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8380" y="1219200"/>
            <a:ext cx="1470640" cy="4673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448800" y="6096000"/>
            <a:ext cx="135509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PENDANT LIGHTING II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303510" y="6096000"/>
            <a:ext cx="135509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Bedside Drop Pair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4973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33 / MASTER SUITE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MASTER BEDROOM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FEATURE UPHOLSTERED BENCH &amp; STATEMENT ARTWORK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108204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1219200"/>
            <a:ext cx="4673600" cy="467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595122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MASTER SUITE SETTEE &amp; STATEMENT ARTWORK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07380" y="6096000"/>
            <a:ext cx="595122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Cognac-Trimmed Bench &amp; Gilded Canvas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7200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34 / MASTER SUITE PALETTE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COLOUR AND FABRIC PALETTE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MASTER BEDROOM | BESPOKE SWATCH SELECTION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66800"/>
            <a:ext cx="10820400" cy="5384800"/>
          </a:xfrm>
          <a:prstGeom prst="rect">
            <a:avLst/>
          </a:prstGeom>
          <a:solidFill>
            <a:srgbClr val="FAF8F5"/>
          </a:solidFill>
          <a:ln w="12700">
            <a:solidFill>
              <a:srgbClr val="B6986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76500"/>
            <a:ext cx="558800" cy="425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35200" y="3149600"/>
            <a:ext cx="8280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MASTER BEDROOM</a:t>
            </a:r>
            <a:endParaRPr lang="en-US" sz="9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35200" y="3454400"/>
            <a:ext cx="8280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smtClean="0">
                <a:solidFill>
                  <a:srgbClr val="181715"/>
                </a:solidFill>
                <a:latin typeface="Georgia" panose="02040502050405020303" pitchFamily="18" charset="0"/>
              </a:rPr>
              <a:t>COLOUR AND FABRIC PALETTE</a:t>
            </a:r>
            <a:endParaRPr lang="en-US" sz="20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97200" y="3987800"/>
            <a:ext cx="6756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smtClean="0">
                <a:solidFill>
                  <a:srgbClr val="6E6860"/>
                </a:solidFill>
                <a:latin typeface="Calibri Light" panose="020F0302020204030204" pitchFamily="34" charset="0"/>
              </a:rPr>
              <a:t>Reserved placeholder slide for Master Bedroom fabric, headboard upholstery, and finish swatches.</a:t>
            </a:r>
            <a:endParaRPr lang="en-US" sz="10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87583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35 / MASTER SUITE PALETTE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COLOUR AND FABRIC PALETTE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MASTER BEDROOM | BESPOKE SWATCH SELECTION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66800"/>
            <a:ext cx="10820400" cy="5384800"/>
          </a:xfrm>
          <a:prstGeom prst="rect">
            <a:avLst/>
          </a:prstGeom>
          <a:solidFill>
            <a:srgbClr val="FAF8F5"/>
          </a:solidFill>
          <a:ln w="12700">
            <a:solidFill>
              <a:srgbClr val="B6986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76500"/>
            <a:ext cx="558800" cy="425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35200" y="3149600"/>
            <a:ext cx="8280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MASTER BEDROOM</a:t>
            </a:r>
            <a:endParaRPr lang="en-US" sz="9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35200" y="3454400"/>
            <a:ext cx="8280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smtClean="0">
                <a:solidFill>
                  <a:srgbClr val="181715"/>
                </a:solidFill>
                <a:latin typeface="Georgia" panose="02040502050405020303" pitchFamily="18" charset="0"/>
              </a:rPr>
              <a:t>COLOUR AND FABRIC PALETTE</a:t>
            </a:r>
            <a:endParaRPr lang="en-US" sz="20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97200" y="3987800"/>
            <a:ext cx="6756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smtClean="0">
                <a:solidFill>
                  <a:srgbClr val="6E6860"/>
                </a:solidFill>
                <a:latin typeface="Calibri Light" panose="020F0302020204030204" pitchFamily="34" charset="0"/>
              </a:rPr>
              <a:t>Reserved placeholder slide for Master Bedroom fabric, headboard upholstery, and finish swatches.</a:t>
            </a:r>
            <a:endParaRPr lang="en-US" sz="10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4111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36 / GUEST &amp; FAMILY SUITES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BEDROOM 1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TWIN UPHOLSTERED BEDS &amp; FLUTED FEATURE WALL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108204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292" y="1219200"/>
            <a:ext cx="5408216" cy="4673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595122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BEDROOM 1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07380" y="6096000"/>
            <a:ext cx="595122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Twin Upholstered Platform Beds &amp; Fluted Panelling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29483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37 / BEDROOM 1 PALETTE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COLOUR AND FABRIC PALETTE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BEDROOM 1 | BESPOKE SWATCH SELECTION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66800"/>
            <a:ext cx="10820400" cy="5384800"/>
          </a:xfrm>
          <a:prstGeom prst="rect">
            <a:avLst/>
          </a:prstGeom>
          <a:solidFill>
            <a:srgbClr val="FAF8F5"/>
          </a:solidFill>
          <a:ln w="12700">
            <a:solidFill>
              <a:srgbClr val="B6986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76500"/>
            <a:ext cx="558800" cy="425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35200" y="3149600"/>
            <a:ext cx="8280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BEDROOM 1</a:t>
            </a:r>
            <a:endParaRPr lang="en-US" sz="9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35200" y="3454400"/>
            <a:ext cx="8280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smtClean="0">
                <a:solidFill>
                  <a:srgbClr val="181715"/>
                </a:solidFill>
                <a:latin typeface="Georgia" panose="02040502050405020303" pitchFamily="18" charset="0"/>
              </a:rPr>
              <a:t>COLOUR AND FABRIC PALETTE</a:t>
            </a:r>
            <a:endParaRPr lang="en-US" sz="20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97200" y="3987800"/>
            <a:ext cx="6756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smtClean="0">
                <a:solidFill>
                  <a:srgbClr val="6E6860"/>
                </a:solidFill>
                <a:latin typeface="Calibri Light" panose="020F0302020204030204" pitchFamily="34" charset="0"/>
              </a:rPr>
              <a:t>Reserved placeholder slide for Bedroom 1 fabric and finish swatches.</a:t>
            </a:r>
            <a:endParaRPr lang="en-US" sz="10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9216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38 / GUEST &amp; FAMILY SUITES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BEDROOM 2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TWIN UPHOLSTERED BEDS &amp; SCULPTURAL BOUCLE ACCENT CHAIR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6096000" cy="5435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5571" y="1117600"/>
            <a:ext cx="4955258" cy="4876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3352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BEDROOM 2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81400" y="6096000"/>
            <a:ext cx="33528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Twin Warm Champagne Upholstered Beds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13600" y="1041400"/>
            <a:ext cx="4572000" cy="54356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3778" y="1219200"/>
            <a:ext cx="3671644" cy="4673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40600" y="6096000"/>
            <a:ext cx="2514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BEDROOM 2 OCCASIONAL CHAIR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0" y="6096000"/>
            <a:ext cx="251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Two-Tone Boucle &amp; Taupe Leather Chair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3277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39 / GUEST &amp; FAMILY SUITES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BEDROOM 1 AND BEDROOM 2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USE THE SAME NIGHTSTAND AND CARPET IN BEDROOM 1 AND BEDROOM 2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5334000" cy="5435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400" y="1117600"/>
            <a:ext cx="3657600" cy="4876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6096000"/>
            <a:ext cx="29337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SHARED NIGHTSTAND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8500" y="6096000"/>
            <a:ext cx="29337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Used in Both Bedroom 1 and Bedroom 2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51600" y="1041400"/>
            <a:ext cx="5334000" cy="5435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1587" y="1117600"/>
            <a:ext cx="3874026" cy="4876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8600" y="6096000"/>
            <a:ext cx="29337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SHARED LUXURY CARPET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24900" y="6096000"/>
            <a:ext cx="29337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Used in Both Bedroom 1 and Bedroom 2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7659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40 / BEDROOM 1 &amp; 2 PALETTE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COLOUR AND FABRIC PALETTE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BEDROOM 1 &amp; BEDROOM 2 | BESPOKE SWATCH SELECTION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66800"/>
            <a:ext cx="10820400" cy="5384800"/>
          </a:xfrm>
          <a:prstGeom prst="rect">
            <a:avLst/>
          </a:prstGeom>
          <a:solidFill>
            <a:srgbClr val="FAF8F5"/>
          </a:solidFill>
          <a:ln w="12700">
            <a:solidFill>
              <a:srgbClr val="B6986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76500"/>
            <a:ext cx="558800" cy="425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35200" y="3149600"/>
            <a:ext cx="8280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BEDROOM 1 &amp; BEDROOM 2</a:t>
            </a:r>
            <a:endParaRPr lang="en-US" sz="9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35200" y="3454400"/>
            <a:ext cx="8280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smtClean="0">
                <a:solidFill>
                  <a:srgbClr val="181715"/>
                </a:solidFill>
                <a:latin typeface="Georgia" panose="02040502050405020303" pitchFamily="18" charset="0"/>
              </a:rPr>
              <a:t>COLOUR AND FABRIC PALETTE</a:t>
            </a:r>
            <a:endParaRPr lang="en-US" sz="20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97200" y="3987800"/>
            <a:ext cx="6756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smtClean="0">
                <a:solidFill>
                  <a:srgbClr val="6E6860"/>
                </a:solidFill>
                <a:latin typeface="Calibri Light" panose="020F0302020204030204" pitchFamily="34" charset="0"/>
              </a:rPr>
              <a:t>Reserved placeholder slide for Bedroom 1 and Bedroom 2 fabric and finish swatches.</a:t>
            </a:r>
            <a:endParaRPr lang="en-US" sz="10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432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41 / WINDOW TREATMENTS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CURTAINING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FLOOR-TO-CEILING WAVE SHEERS &amp; NATURAL LINEN DRAPERY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41400"/>
            <a:ext cx="5334000" cy="33528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200" y="1117600"/>
            <a:ext cx="2794000" cy="279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2200" y="4013200"/>
            <a:ext cx="29337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FULL-HEIGHT WAVE CURTAINING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8500" y="4013200"/>
            <a:ext cx="29337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Floor-to-Ceiling Sheer Drapery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65200" y="4521200"/>
            <a:ext cx="5334000" cy="19558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5502" y="4597400"/>
            <a:ext cx="1673396" cy="1397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2200" y="6096000"/>
            <a:ext cx="29337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COMPLEMENTARY SWATCH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38500" y="6096000"/>
            <a:ext cx="29337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Warm Sand &amp; Dove Grey Pairing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51600" y="1041400"/>
            <a:ext cx="5334000" cy="5435600"/>
          </a:xfrm>
          <a:prstGeom prst="rect">
            <a:avLst/>
          </a:prstGeom>
          <a:solidFill>
            <a:srgbClr val="FAF8F5"/>
          </a:solidFill>
          <a:ln w="9525">
            <a:solidFill>
              <a:srgbClr val="DED8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200" y="1117600"/>
            <a:ext cx="4876800" cy="4876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78600" y="6096000"/>
            <a:ext cx="29337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50" b="1" smtClean="0">
                <a:solidFill>
                  <a:srgbClr val="181715"/>
                </a:solidFill>
                <a:latin typeface="Calibri Light" panose="020F0302020204030204" pitchFamily="34" charset="0"/>
              </a:rPr>
              <a:t>PRIMARY DRAPERY TEXTILE</a:t>
            </a:r>
            <a:endParaRPr lang="en-US" sz="950" b="1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24900" y="6096000"/>
            <a:ext cx="29337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Natural Flowing Champagne Linen Weave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303961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42 / EXTERIOR LIVING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OUTDOOR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DINING AREA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66800"/>
            <a:ext cx="10820400" cy="5384800"/>
          </a:xfrm>
          <a:prstGeom prst="rect">
            <a:avLst/>
          </a:prstGeom>
          <a:solidFill>
            <a:srgbClr val="FAF8F5"/>
          </a:solidFill>
          <a:ln w="12700">
            <a:solidFill>
              <a:srgbClr val="B6986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76500"/>
            <a:ext cx="558800" cy="425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35200" y="3149600"/>
            <a:ext cx="8280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OUTDOOR | DINING AREA</a:t>
            </a:r>
            <a:endParaRPr lang="en-US" sz="9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35200" y="3454400"/>
            <a:ext cx="8280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smtClean="0">
                <a:solidFill>
                  <a:srgbClr val="181715"/>
                </a:solidFill>
                <a:latin typeface="Georgia" panose="02040502050405020303" pitchFamily="18" charset="0"/>
              </a:rPr>
              <a:t>OUTDOOR : DINING AREA</a:t>
            </a:r>
            <a:endParaRPr lang="en-US" sz="20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97200" y="3987800"/>
            <a:ext cx="6756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smtClean="0">
                <a:solidFill>
                  <a:srgbClr val="6E6860"/>
                </a:solidFill>
                <a:latin typeface="Calibri Light" panose="020F0302020204030204" pitchFamily="34" charset="0"/>
              </a:rPr>
              <a:t>Reserved placeholder slide for Outdoor Dining Area furniture and material selections.</a:t>
            </a:r>
            <a:endParaRPr lang="en-US" sz="10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138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65200" y="203200"/>
            <a:ext cx="533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8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SLIDE 43 / EXTERIOR LIVING</a:t>
            </a:r>
            <a:endParaRPr lang="en-US" sz="8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65200" y="393700"/>
            <a:ext cx="6858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100" smtClean="0">
                <a:solidFill>
                  <a:srgbClr val="181715"/>
                </a:solidFill>
                <a:latin typeface="Georgia" panose="02040502050405020303" pitchFamily="18" charset="0"/>
              </a:rPr>
              <a:t>OUTDOOR</a:t>
            </a:r>
            <a:endParaRPr lang="en-US" sz="21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31000" y="355600"/>
            <a:ext cx="50546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850" smtClean="0">
                <a:solidFill>
                  <a:srgbClr val="6E6860"/>
                </a:solidFill>
                <a:latin typeface="Calibri Light" panose="020F0302020204030204" pitchFamily="34" charset="0"/>
              </a:rPr>
              <a:t>OUTDOOR PATIO &amp; LOUNGE</a:t>
            </a:r>
            <a:endParaRPr lang="en-US" sz="8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65200" y="1066800"/>
            <a:ext cx="10820400" cy="5384800"/>
          </a:xfrm>
          <a:prstGeom prst="rect">
            <a:avLst/>
          </a:prstGeom>
          <a:solidFill>
            <a:srgbClr val="FAF8F5"/>
          </a:solidFill>
          <a:ln w="12700">
            <a:solidFill>
              <a:srgbClr val="B6986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76500"/>
            <a:ext cx="558800" cy="425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35200" y="3149600"/>
            <a:ext cx="8280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950" b="1" smtClean="0">
                <a:solidFill>
                  <a:srgbClr val="B69863"/>
                </a:solidFill>
                <a:latin typeface="Calibri Light" panose="020F0302020204030204" pitchFamily="34" charset="0"/>
              </a:rPr>
              <a:t>OUTDOOR</a:t>
            </a:r>
            <a:endParaRPr lang="en-US" sz="950" b="1">
              <a:solidFill>
                <a:srgbClr val="B69863"/>
              </a:solidFill>
              <a:latin typeface="Calibri Light" panose="020F03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35200" y="3454400"/>
            <a:ext cx="8280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000" smtClean="0">
                <a:solidFill>
                  <a:srgbClr val="181715"/>
                </a:solidFill>
                <a:latin typeface="Georgia" panose="02040502050405020303" pitchFamily="18" charset="0"/>
              </a:rPr>
              <a:t>OUTDOOR</a:t>
            </a:r>
            <a:endParaRPr lang="en-US" sz="2000">
              <a:solidFill>
                <a:srgbClr val="181715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97200" y="3987800"/>
            <a:ext cx="67564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050" smtClean="0">
                <a:solidFill>
                  <a:srgbClr val="6E6860"/>
                </a:solidFill>
                <a:latin typeface="Calibri Light" panose="020F0302020204030204" pitchFamily="34" charset="0"/>
              </a:rPr>
              <a:t>Reserved placeholder slide for Outdoor Lounge furniture and material selections.</a:t>
            </a:r>
            <a:endParaRPr lang="en-US" sz="1050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31410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0" y="2413000"/>
            <a:ext cx="2476500" cy="1106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86500" y="2057400"/>
            <a:ext cx="495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200" smtClean="0">
                <a:solidFill>
                  <a:srgbClr val="181715"/>
                </a:solidFill>
                <a:latin typeface="Calibri Light" panose="020F0302020204030204" pitchFamily="34" charset="0"/>
              </a:rPr>
              <a:t>NEROSHA NAIDU</a:t>
            </a:r>
            <a:endParaRPr lang="en-US" sz="2200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86500" y="2565400"/>
            <a:ext cx="4953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500" smtClean="0">
                <a:solidFill>
                  <a:srgbClr val="181715"/>
                </a:solidFill>
                <a:latin typeface="Calibri Light" panose="020F0302020204030204" pitchFamily="34" charset="0"/>
              </a:rPr>
              <a:t>071 363 2596</a:t>
            </a:r>
            <a:endParaRPr lang="en-US" sz="1500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86500" y="3657600"/>
            <a:ext cx="495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smtClean="0">
                <a:solidFill>
                  <a:srgbClr val="181715"/>
                </a:solidFill>
                <a:latin typeface="Calibri Light" panose="020F0302020204030204" pitchFamily="34" charset="0"/>
              </a:rPr>
              <a:t>MINK</a:t>
            </a:r>
            <a:endParaRPr lang="en-US" sz="1300">
              <a:solidFill>
                <a:srgbClr val="181715"/>
              </a:solidFill>
              <a:latin typeface="Calibri Light" panose="020F03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86500" y="3962400"/>
            <a:ext cx="4953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850" i="1" smtClean="0">
                <a:solidFill>
                  <a:srgbClr val="6E6860"/>
                </a:solidFill>
                <a:latin typeface="Calibri Light" panose="020F0302020204030204" pitchFamily="34" charset="0"/>
              </a:rPr>
              <a:t>WHERE LUXURY BEGINS AND NEVER ENDS....</a:t>
            </a:r>
            <a:endParaRPr lang="en-US" sz="850" i="1">
              <a:solidFill>
                <a:srgbClr val="6E6860"/>
              </a:solidFill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6731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1344</Words>
  <Application>Microsoft Office PowerPoint</Application>
  <PresentationFormat>Custom</PresentationFormat>
  <Paragraphs>275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TEMAOS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</cp:revision>
  <dcterms:created xsi:type="dcterms:W3CDTF">2026-10-24T13:14:06Z</dcterms:created>
  <dcterms:modified xsi:type="dcterms:W3CDTF">2026-10-24T13:14:07Z</dcterms:modified>
</cp:coreProperties>
</file>